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Graphik"/>
        <a:ea typeface="Graphik"/>
        <a:cs typeface="Graphik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2" name="Author and Date"/>
          <p:cNvSpPr txBox="1"/>
          <p:nvPr>
            <p:ph type="body" sz="quarter" idx="21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Northern Lights display in a dark night sky over mountains"/>
          <p:cNvSpPr/>
          <p:nvPr>
            <p:ph type="pic" idx="21"/>
          </p:nvPr>
        </p:nvSpPr>
        <p:spPr>
          <a:xfrm>
            <a:off x="0" y="-762000"/>
            <a:ext cx="24384000" cy="15240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35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Presenta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348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lourful clouds against a starry night sky"/>
          <p:cNvSpPr/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70000" y="3886200"/>
            <a:ext cx="9652000" cy="3200202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orthern Lights display over a snowy mountain landscape"/>
          <p:cNvSpPr/>
          <p:nvPr>
            <p:ph type="pic" idx="21"/>
          </p:nvPr>
        </p:nvSpPr>
        <p:spPr>
          <a:xfrm>
            <a:off x="12204700" y="-2277533"/>
            <a:ext cx="12192000" cy="1827106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Slide Subtitle"/>
          <p:cNvSpPr txBox="1"/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00FF00"/>
                    </a:gs>
                    <a:gs pos="100000">
                      <a:srgbClr val="007DFF"/>
                    </a:gs>
                  </a:gsLst>
                  <a:lin ang="3965999" scaled="0"/>
                </a:gradFill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457200" defTabSz="825500">
              <a:buClrTx/>
              <a:buSzTx/>
              <a:buNone/>
              <a:defRPr spc="-55" sz="5500"/>
            </a:lvl2pPr>
            <a:lvl3pPr marL="0" indent="914400" defTabSz="825500">
              <a:buClrTx/>
              <a:buSzTx/>
              <a:buNone/>
              <a:defRPr spc="-55" sz="5500"/>
            </a:lvl3pPr>
            <a:lvl4pPr marL="0" indent="1371600" defTabSz="825500">
              <a:buClrTx/>
              <a:buSzTx/>
              <a:buNone/>
              <a:defRPr spc="-55" sz="5500"/>
            </a:lvl4pPr>
            <a:lvl5pPr marL="0" indent="1828800" defTabSz="825500">
              <a:buClrTx/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70000" y="4546600"/>
            <a:ext cx="21844000" cy="4678065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00E8FF"/>
                    </a:gs>
                    <a:gs pos="100000">
                      <a:srgbClr val="FF00F7"/>
                    </a:gs>
                  </a:gsLst>
                  <a:lin ang="3967761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70000" y="4659369"/>
            <a:ext cx="21844000" cy="43942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FD00"/>
                    </a:gs>
                  </a:gsLst>
                  <a:lin ang="270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Northern Lights display over a snowy landscape"/>
          <p:cNvSpPr/>
          <p:nvPr>
            <p:ph type="pic" sz="half" idx="21"/>
          </p:nvPr>
        </p:nvSpPr>
        <p:spPr>
          <a:xfrm>
            <a:off x="12192000" y="62293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olourful clouds against a starry night sky"/>
          <p:cNvSpPr/>
          <p:nvPr>
            <p:ph type="pic" sz="half" idx="22"/>
          </p:nvPr>
        </p:nvSpPr>
        <p:spPr>
          <a:xfrm>
            <a:off x="12192000" y="-641351"/>
            <a:ext cx="12192000" cy="812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Northern Lights display over a snowy mountain landscape"/>
          <p:cNvSpPr/>
          <p:nvPr>
            <p:ph type="pic" idx="23"/>
          </p:nvPr>
        </p:nvSpPr>
        <p:spPr>
          <a:xfrm>
            <a:off x="-1" y="-2258501"/>
            <a:ext cx="12166601" cy="1823300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Northern Lights display over a snowy landscap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000000"/>
            </a:gs>
            <a:gs pos="100000">
              <a:srgbClr val="3B3B3B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77623" y="13081000"/>
            <a:ext cx="416053" cy="46710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5500">
              <a:spcBef>
                <a:spcPts val="0"/>
              </a:spcBef>
              <a:defRPr sz="22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gradFill flip="none" rotWithShape="1">
            <a:gsLst>
              <a:gs pos="0">
                <a:srgbClr val="FFFFFF"/>
              </a:gs>
              <a:gs pos="100000">
                <a:srgbClr val="929292"/>
              </a:gs>
            </a:gsLst>
            <a:lin ang="5400000" scaled="0"/>
          </a:gra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Graphik"/>
          <a:ea typeface="Graphik"/>
          <a:cs typeface="Graphik"/>
          <a:sym typeface="Graphik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Graphik"/>
          <a:ea typeface="Graphik"/>
          <a:cs typeface="Graphik"/>
          <a:sym typeface="Graphik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Graphik"/>
          <a:ea typeface="Graphik"/>
          <a:cs typeface="Graphik"/>
          <a:sym typeface="Graphik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Graphik"/>
          <a:ea typeface="Graphik"/>
          <a:cs typeface="Graphik"/>
          <a:sym typeface="Graphik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Graphik"/>
          <a:ea typeface="Graphik"/>
          <a:cs typeface="Graphik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FFFFFF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091" y="-44692"/>
            <a:ext cx="9144001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Bone Age Predictions from…"/>
          <p:cNvSpPr txBox="1"/>
          <p:nvPr>
            <p:ph type="ctrTitle"/>
          </p:nvPr>
        </p:nvSpPr>
        <p:spPr>
          <a:xfrm>
            <a:off x="10047804" y="2050822"/>
            <a:ext cx="21844001" cy="3871388"/>
          </a:xfrm>
          <a:prstGeom prst="rect">
            <a:avLst/>
          </a:prstGeom>
        </p:spPr>
        <p:txBody>
          <a:bodyPr anchor="ctr"/>
          <a:lstStyle/>
          <a:p>
            <a:pPr algn="l" defTabSz="825500">
              <a:lnSpc>
                <a:spcPct val="80000"/>
              </a:lnSpc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</a:defRPr>
            </a:pPr>
            <a:r>
              <a:t>Bone Age Predictions from </a:t>
            </a:r>
          </a:p>
          <a:p>
            <a:pPr algn="l" defTabSz="825500">
              <a:lnSpc>
                <a:spcPct val="100000"/>
              </a:lnSpc>
              <a:defRPr spc="-252" sz="8400">
                <a:gradFill flip="none" rotWithShape="1">
                  <a:gsLst>
                    <a:gs pos="0">
                      <a:srgbClr val="FFFFFF"/>
                    </a:gs>
                    <a:gs pos="100000">
                      <a:srgbClr val="929292"/>
                    </a:gs>
                  </a:gsLst>
                  <a:lin ang="5400000" scaled="0"/>
                </a:gradFill>
              </a:defRPr>
            </a:pPr>
            <a:r>
              <a:t>Hand Radiographs</a:t>
            </a:r>
          </a:p>
        </p:txBody>
      </p:sp>
      <p:sp>
        <p:nvSpPr>
          <p:cNvPr id="173" name="Pattern Recognition and Machine Learning Course Project"/>
          <p:cNvSpPr txBox="1"/>
          <p:nvPr>
            <p:ph type="subTitle" sz="quarter" idx="1"/>
          </p:nvPr>
        </p:nvSpPr>
        <p:spPr>
          <a:xfrm>
            <a:off x="10047804" y="5601824"/>
            <a:ext cx="21844001" cy="2512352"/>
          </a:xfrm>
          <a:prstGeom prst="rect">
            <a:avLst/>
          </a:prstGeom>
        </p:spPr>
        <p:txBody>
          <a:bodyPr/>
          <a:lstStyle>
            <a:lvl1pPr algn="l" defTabSz="2438400">
              <a:spcBef>
                <a:spcPts val="2400"/>
              </a:spcBef>
              <a:defRPr sz="3800">
                <a:solidFill>
                  <a:srgbClr val="FFFFFF"/>
                </a:solidFill>
                <a:latin typeface="Didot"/>
                <a:ea typeface="Didot"/>
                <a:cs typeface="Didot"/>
                <a:sym typeface="Didot"/>
              </a:defRPr>
            </a:lvl1pPr>
          </a:lstStyle>
          <a:p>
            <a:pPr/>
            <a:r>
              <a:t>Pattern Recognition and Machine Learning Course Project</a:t>
            </a:r>
          </a:p>
        </p:txBody>
      </p:sp>
      <p:sp>
        <p:nvSpPr>
          <p:cNvPr id="174" name="Authors :…"/>
          <p:cNvSpPr txBox="1"/>
          <p:nvPr/>
        </p:nvSpPr>
        <p:spPr>
          <a:xfrm>
            <a:off x="10230211" y="7539624"/>
            <a:ext cx="6925159" cy="4261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Authors :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Sanshrey (cs23b2014)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Varshith  (cs23b2015)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Lohith     (cs23b2030)</a:t>
            </a:r>
          </a:p>
        </p:txBody>
      </p:sp>
      <p:sp>
        <p:nvSpPr>
          <p:cNvPr id="175" name="Slide Number"/>
          <p:cNvSpPr txBox="1"/>
          <p:nvPr>
            <p:ph type="sldNum" sz="quarter" idx="4294967295"/>
          </p:nvPr>
        </p:nvSpPr>
        <p:spPr>
          <a:xfrm>
            <a:off x="12298540" y="13081000"/>
            <a:ext cx="329297" cy="4671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5342" y="57604"/>
            <a:ext cx="9067195" cy="13600793"/>
          </a:xfrm>
          <a:prstGeom prst="rect">
            <a:avLst/>
          </a:prstGeom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25400" dir="3600000">
              <a:srgbClr val="000000">
                <a:alpha val="70000"/>
              </a:srgbClr>
            </a:outerShdw>
          </a:effectLst>
        </p:spPr>
      </p:pic>
      <p:sp>
        <p:nvSpPr>
          <p:cNvPr id="178" name="Problem Statement &amp;…"/>
          <p:cNvSpPr txBox="1"/>
          <p:nvPr>
            <p:ph type="title" idx="4294967295"/>
          </p:nvPr>
        </p:nvSpPr>
        <p:spPr>
          <a:xfrm>
            <a:off x="10805852" y="913285"/>
            <a:ext cx="12457293" cy="2737027"/>
          </a:xfrm>
          <a:prstGeom prst="rect">
            <a:avLst/>
          </a:prstGeom>
        </p:spPr>
        <p:txBody>
          <a:bodyPr anchor="ctr"/>
          <a:lstStyle/>
          <a:p>
            <a:pPr lvl="1" algn="l"/>
            <a:r>
              <a:t>Problem Statement &amp;</a:t>
            </a:r>
          </a:p>
          <a:p>
            <a:pPr lvl="1" algn="l"/>
            <a:r>
              <a:t>Objectives</a:t>
            </a:r>
          </a:p>
        </p:txBody>
      </p:sp>
      <p:sp>
        <p:nvSpPr>
          <p:cNvPr id="179" name="Regression Task…"/>
          <p:cNvSpPr/>
          <p:nvPr/>
        </p:nvSpPr>
        <p:spPr>
          <a:xfrm>
            <a:off x="10749831" y="4383406"/>
            <a:ext cx="12569334" cy="2923641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Regression Task</a:t>
            </a:r>
          </a:p>
          <a:p>
            <a:pPr lvl="1">
              <a:defRPr sz="3000"/>
            </a:pPr>
            <a:r>
              <a:t>Predicts bone age from a hand X-ray . This involves mapping </a:t>
            </a:r>
          </a:p>
          <a:p>
            <a:pPr lvl="1">
              <a:defRPr sz="3000"/>
            </a:pPr>
            <a:r>
              <a:t>f : Image —&gt; Age (in years)</a:t>
            </a:r>
          </a:p>
        </p:txBody>
      </p:sp>
      <p:sp>
        <p:nvSpPr>
          <p:cNvPr id="180" name="Classification Task…"/>
          <p:cNvSpPr/>
          <p:nvPr/>
        </p:nvSpPr>
        <p:spPr>
          <a:xfrm>
            <a:off x="10749831" y="8040141"/>
            <a:ext cx="12569335" cy="2923641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 defTabSz="825500">
              <a:spcBef>
                <a:spcPts val="0"/>
              </a:spcBef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Classification Task</a:t>
            </a:r>
          </a:p>
          <a:p>
            <a:pPr lvl="1">
              <a:defRPr sz="3000"/>
            </a:pPr>
            <a:r>
              <a:t>Develop a model to classify bone age into distinct stages </a:t>
            </a:r>
          </a:p>
          <a:p>
            <a:pPr lvl="1">
              <a:defRPr sz="3000"/>
            </a:pPr>
            <a:r>
              <a:t>Eg : Child , Adolescent , Adult</a:t>
            </a:r>
          </a:p>
          <a:p>
            <a:pPr>
              <a:defRPr sz="3000"/>
            </a:pPr>
          </a:p>
        </p:txBody>
      </p:sp>
      <p:sp>
        <p:nvSpPr>
          <p:cNvPr id="181" name="Bone age reflects skeletal maturity and is widely used in pediatrics to assess growth disorders and endocrine abnormalities."/>
          <p:cNvSpPr txBox="1"/>
          <p:nvPr/>
        </p:nvSpPr>
        <p:spPr>
          <a:xfrm>
            <a:off x="10798169" y="11375567"/>
            <a:ext cx="12569335" cy="349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Bone age reflects skeletal maturity and is widely used in pediatrics to assess growth disorders and endocrine abnormalities.</a:t>
            </a:r>
          </a:p>
        </p:txBody>
      </p:sp>
      <p:sp>
        <p:nvSpPr>
          <p:cNvPr id="182" name="Slide Number"/>
          <p:cNvSpPr txBox="1"/>
          <p:nvPr>
            <p:ph type="sldNum" sz="quarter" idx="4294967295"/>
          </p:nvPr>
        </p:nvSpPr>
        <p:spPr>
          <a:xfrm>
            <a:off x="12057456" y="12968372"/>
            <a:ext cx="269088" cy="46710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Dataset  — RSNA Bone age  Dataset"/>
          <p:cNvSpPr txBox="1"/>
          <p:nvPr>
            <p:ph type="title" idx="4294967295"/>
          </p:nvPr>
        </p:nvSpPr>
        <p:spPr>
          <a:xfrm>
            <a:off x="1270000" y="838199"/>
            <a:ext cx="16779578" cy="1524001"/>
          </a:xfrm>
          <a:prstGeom prst="rect">
            <a:avLst/>
          </a:prstGeom>
        </p:spPr>
        <p:txBody>
          <a:bodyPr/>
          <a:lstStyle>
            <a:lvl1pPr algn="l" defTabSz="800735">
              <a:defRPr spc="-244" sz="8148"/>
            </a:lvl1pPr>
          </a:lstStyle>
          <a:p>
            <a:pPr/>
            <a:r>
              <a:t>Dataset  — RSNA Bone age  Dataset</a:t>
            </a:r>
          </a:p>
        </p:txBody>
      </p:sp>
      <p:sp>
        <p:nvSpPr>
          <p:cNvPr id="185" name="The Dataset contains 12,611 training images…"/>
          <p:cNvSpPr txBox="1"/>
          <p:nvPr>
            <p:ph type="body" idx="4294967295"/>
          </p:nvPr>
        </p:nvSpPr>
        <p:spPr>
          <a:xfrm>
            <a:off x="1263550" y="2971799"/>
            <a:ext cx="21338581" cy="9879312"/>
          </a:xfrm>
          <a:prstGeom prst="rect">
            <a:avLst/>
          </a:prstGeom>
        </p:spPr>
        <p:txBody>
          <a:bodyPr/>
          <a:lstStyle/>
          <a:p>
            <a:pPr/>
            <a:r>
              <a:t>The Dataset contains 12,611 training images </a:t>
            </a:r>
          </a:p>
          <a:p>
            <a:pPr/>
            <a:r>
              <a:t>The ages are ranging from 1 to 228 months (0.08-19 years)</a:t>
            </a:r>
          </a:p>
          <a:p>
            <a:pPr/>
            <a:r>
              <a:t>General Structure of CSV File </a:t>
            </a:r>
          </a:p>
          <a:p>
            <a:pPr marL="0" indent="0">
              <a:buClrTx/>
              <a:buSzTx/>
              <a:buNone/>
            </a:pPr>
          </a:p>
          <a:p>
            <a:pPr marL="0" indent="0">
              <a:buClrTx/>
              <a:buSzTx/>
              <a:buNone/>
            </a:pPr>
          </a:p>
          <a:p>
            <a:pPr marL="0" indent="0">
              <a:buClrTx/>
              <a:buSzTx/>
              <a:buNone/>
            </a:pPr>
          </a:p>
          <a:p>
            <a:pPr/>
            <a:r>
              <a:t>Split of the Dataset</a:t>
            </a:r>
          </a:p>
          <a:p>
            <a:pPr lvl="2" marL="0" indent="914400">
              <a:buClrTx/>
              <a:buSzTx/>
              <a:buNone/>
            </a:pPr>
            <a:r>
              <a:t>Train (70%) - 8,827        Validation(15%)-1,892     Test(15%) - 1,892</a:t>
            </a:r>
          </a:p>
        </p:txBody>
      </p:sp>
      <p:graphicFrame>
        <p:nvGraphicFramePr>
          <p:cNvPr id="186" name="Table 1"/>
          <p:cNvGraphicFramePr/>
          <p:nvPr/>
        </p:nvGraphicFramePr>
        <p:xfrm>
          <a:off x="2120503" y="6520011"/>
          <a:ext cx="19635094" cy="2972049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{C7B018BB-80A7-4F77-B60F-C8B233D01FF8}</a:tableStyleId>
              </a:tblPr>
              <a:tblGrid>
                <a:gridCol w="6540797"/>
                <a:gridCol w="6540797"/>
                <a:gridCol w="6540797"/>
              </a:tblGrid>
              <a:tr h="73983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Column name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Description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Example Value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73983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Id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Unique image identifier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12345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73983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bone_age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Age in months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156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73983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Sex
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Biological sex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reprocessing &amp; Data  Augmentation"/>
          <p:cNvSpPr txBox="1"/>
          <p:nvPr>
            <p:ph type="title" idx="4294967295"/>
          </p:nvPr>
        </p:nvSpPr>
        <p:spPr>
          <a:xfrm>
            <a:off x="1270000" y="838199"/>
            <a:ext cx="16219587" cy="1524001"/>
          </a:xfrm>
          <a:prstGeom prst="rect">
            <a:avLst/>
          </a:prstGeom>
        </p:spPr>
        <p:txBody>
          <a:bodyPr/>
          <a:lstStyle>
            <a:lvl1pPr algn="l" defTabSz="742950">
              <a:defRPr spc="-226" sz="7560"/>
            </a:lvl1pPr>
          </a:lstStyle>
          <a:p>
            <a:pPr/>
            <a:r>
              <a:t>Preprocessing &amp; Data  Augmentation</a:t>
            </a:r>
          </a:p>
        </p:txBody>
      </p:sp>
      <p:sp>
        <p:nvSpPr>
          <p:cNvPr id="189" name="To ensure robust model performance , images underwent rigours preprocessing and augmentation"/>
          <p:cNvSpPr txBox="1"/>
          <p:nvPr>
            <p:ph type="body" sz="quarter" idx="4294967295"/>
          </p:nvPr>
        </p:nvSpPr>
        <p:spPr>
          <a:xfrm>
            <a:off x="1318666" y="2362199"/>
            <a:ext cx="21746668" cy="15240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3900"/>
            </a:lvl1pPr>
          </a:lstStyle>
          <a:p>
            <a:pPr/>
            <a:r>
              <a:t>To ensure robust model performance , images underwent rigours preprocessing and augmentation </a:t>
            </a:r>
          </a:p>
        </p:txBody>
      </p:sp>
      <p:sp>
        <p:nvSpPr>
          <p:cNvPr id="190" name="Image Resizing - All images were uniformly resized to 384x384 pixels"/>
          <p:cNvSpPr/>
          <p:nvPr/>
        </p:nvSpPr>
        <p:spPr>
          <a:xfrm>
            <a:off x="1219200" y="4394199"/>
            <a:ext cx="21062653" cy="1101330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 marL="1703916" indent="-814916" defTabSz="825500">
              <a:spcBef>
                <a:spcPts val="0"/>
              </a:spcBef>
              <a:buSzPct val="100000"/>
              <a:buAutoNum type="arabicParenR" startAt="1"/>
              <a:defRPr sz="4400">
                <a:solidFill>
                  <a:srgbClr val="000000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Image Resizing - All images were uniformly resized to 384x384 pixels </a:t>
            </a:r>
          </a:p>
          <a:p>
            <a:pPr lvl="1" defTabSz="825500">
              <a:spcBef>
                <a:spcPts val="0"/>
              </a:spcBef>
              <a:defRPr sz="4400">
                <a:solidFill>
                  <a:srgbClr val="000000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 </a:t>
            </a:r>
          </a:p>
        </p:txBody>
      </p:sp>
      <p:sp>
        <p:nvSpPr>
          <p:cNvPr id="191" name="2) Channel Conversion - Grayscale X-rays are converted to 3-channel RGB fformat"/>
          <p:cNvSpPr/>
          <p:nvPr/>
        </p:nvSpPr>
        <p:spPr>
          <a:xfrm>
            <a:off x="1219200" y="6581378"/>
            <a:ext cx="21062653" cy="1101329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2" defTabSz="825500">
              <a:spcBef>
                <a:spcPts val="0"/>
              </a:spcBef>
              <a:defRPr sz="4400">
                <a:solidFill>
                  <a:srgbClr val="000000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2) Channel Conversion - Grayscale X-rays are converted to 3-channel RGB fformat</a:t>
            </a:r>
          </a:p>
          <a:p>
            <a:pPr lvl="2" defTabSz="825500">
              <a:spcBef>
                <a:spcPts val="0"/>
              </a:spcBef>
              <a:defRPr sz="4400">
                <a:solidFill>
                  <a:srgbClr val="000000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 </a:t>
            </a:r>
          </a:p>
        </p:txBody>
      </p:sp>
      <p:sp>
        <p:nvSpPr>
          <p:cNvPr id="192" name="3) Normalization -All images were normalized using imageNet mean &amp; std"/>
          <p:cNvSpPr/>
          <p:nvPr/>
        </p:nvSpPr>
        <p:spPr>
          <a:xfrm>
            <a:off x="1219200" y="8768556"/>
            <a:ext cx="21062653" cy="1101329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2" defTabSz="825500">
              <a:spcBef>
                <a:spcPts val="0"/>
              </a:spcBef>
              <a:defRPr sz="4400">
                <a:solidFill>
                  <a:srgbClr val="000000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3) Normalization -All images were normalized using imageNet mean &amp; std</a:t>
            </a:r>
          </a:p>
        </p:txBody>
      </p:sp>
      <p:sp>
        <p:nvSpPr>
          <p:cNvPr id="193" name="4) Augmentation -Techniques include rotation, zoom, brightness, contrast adjustments , and horizontal flipping"/>
          <p:cNvSpPr/>
          <p:nvPr/>
        </p:nvSpPr>
        <p:spPr>
          <a:xfrm>
            <a:off x="1219200" y="10822384"/>
            <a:ext cx="21485226" cy="2279155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2" defTabSz="825500">
              <a:spcBef>
                <a:spcPts val="0"/>
              </a:spcBef>
              <a:defRPr sz="4400">
                <a:solidFill>
                  <a:srgbClr val="000000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4) Augmentation -Techniques include rotation, zoom, brightness, contrast adjustments , and horizontal flipping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gression Model Architecture"/>
          <p:cNvSpPr txBox="1"/>
          <p:nvPr>
            <p:ph type="title" idx="4294967295"/>
          </p:nvPr>
        </p:nvSpPr>
        <p:spPr>
          <a:xfrm>
            <a:off x="5331774" y="568057"/>
            <a:ext cx="14247246" cy="1524001"/>
          </a:xfrm>
          <a:prstGeom prst="rect">
            <a:avLst/>
          </a:prstGeom>
        </p:spPr>
        <p:txBody>
          <a:bodyPr/>
          <a:lstStyle>
            <a:lvl1pPr algn="l" defTabSz="767715">
              <a:defRPr spc="-234" sz="7812"/>
            </a:lvl1pPr>
          </a:lstStyle>
          <a:p>
            <a:pPr/>
            <a:r>
              <a:t>Regression Model Architecture </a:t>
            </a:r>
          </a:p>
        </p:txBody>
      </p:sp>
      <p:sp>
        <p:nvSpPr>
          <p:cNvPr id="196" name="EfficientNet-B0 Backbone (Feature Extractor)…"/>
          <p:cNvSpPr txBox="1"/>
          <p:nvPr>
            <p:ph type="body" idx="4294967295"/>
          </p:nvPr>
        </p:nvSpPr>
        <p:spPr>
          <a:xfrm>
            <a:off x="1270000" y="2641600"/>
            <a:ext cx="22370795" cy="10422643"/>
          </a:xfrm>
          <a:prstGeom prst="rect">
            <a:avLst/>
          </a:prstGeom>
        </p:spPr>
        <p:txBody>
          <a:bodyPr/>
          <a:lstStyle/>
          <a:p>
            <a:pPr marL="0" indent="0" defTabSz="775969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5076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u="sng"/>
              <a:t>EfficientNet-B0 Backbone</a:t>
            </a:r>
            <a:r>
              <a:t> (Feature Extractor)</a:t>
            </a:r>
          </a:p>
          <a:p>
            <a:pPr marL="525272" indent="-525272" defTabSz="2292095">
              <a:lnSpc>
                <a:spcPct val="120000"/>
              </a:lnSpc>
              <a:spcBef>
                <a:spcPts val="2200"/>
              </a:spcBef>
              <a:defRPr sz="3196"/>
            </a:pPr>
            <a:r>
              <a:t>Input : 384 x 384 x 3 RGB Hand X-Ray Image</a:t>
            </a:r>
          </a:p>
          <a:p>
            <a:pPr marL="525272" indent="-525272" defTabSz="2292095">
              <a:lnSpc>
                <a:spcPct val="120000"/>
              </a:lnSpc>
              <a:spcBef>
                <a:spcPts val="2200"/>
              </a:spcBef>
              <a:defRPr sz="3196"/>
            </a:pPr>
            <a:r>
              <a:t>Pre-Trained on ImageNet</a:t>
            </a:r>
          </a:p>
          <a:p>
            <a:pPr marL="525272" indent="-525272" defTabSz="2292095">
              <a:lnSpc>
                <a:spcPct val="120000"/>
              </a:lnSpc>
              <a:spcBef>
                <a:spcPts val="2200"/>
              </a:spcBef>
              <a:defRPr sz="3196"/>
            </a:pPr>
            <a:r>
              <a:t>Output Features : 1280 -Dimensional Vector (via Global Average Pooling)</a:t>
            </a:r>
          </a:p>
          <a:p>
            <a:pPr marL="0" indent="0" defTabSz="775969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5076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u="sng"/>
              <a:t>Sex-Aware Head</a:t>
            </a:r>
            <a:r>
              <a:t> (Image features + sex to predict bone_age)</a:t>
            </a:r>
          </a:p>
          <a:p>
            <a:pPr marL="525272" indent="-525272" defTabSz="2292095">
              <a:lnSpc>
                <a:spcPct val="120000"/>
              </a:lnSpc>
              <a:spcBef>
                <a:spcPts val="2200"/>
              </a:spcBef>
              <a:defRPr sz="3196"/>
            </a:pPr>
            <a:r>
              <a:t>Sex Embedding : 2(M/F) —&gt; 32 Dimensions </a:t>
            </a:r>
          </a:p>
          <a:p>
            <a:pPr marL="525272" indent="-525272" defTabSz="2292095">
              <a:lnSpc>
                <a:spcPct val="120000"/>
              </a:lnSpc>
              <a:spcBef>
                <a:spcPts val="2200"/>
              </a:spcBef>
              <a:defRPr sz="3196"/>
            </a:pPr>
            <a:r>
              <a:t>Feature Concatenation : 1280 + 32 =1,312 Features </a:t>
            </a:r>
          </a:p>
          <a:p>
            <a:pPr marL="372067" indent="-372067" defTabSz="2292095">
              <a:lnSpc>
                <a:spcPct val="120000"/>
              </a:lnSpc>
              <a:spcBef>
                <a:spcPts val="2200"/>
              </a:spcBef>
              <a:defRPr sz="3196"/>
            </a:pPr>
            <a:r>
              <a:t>Fully Connected Layers :</a:t>
            </a:r>
          </a:p>
          <a:p>
            <a:pPr lvl="3" marL="1947883" indent="-372067" defTabSz="2292095">
              <a:lnSpc>
                <a:spcPct val="120000"/>
              </a:lnSpc>
              <a:spcBef>
                <a:spcPts val="2200"/>
              </a:spcBef>
              <a:defRPr sz="3196"/>
            </a:pPr>
            <a:r>
              <a:t>Dense (256) —&gt; ReLU —&gt; Dropout(0.3)</a:t>
            </a:r>
          </a:p>
          <a:p>
            <a:pPr lvl="3" marL="1947883" indent="-372067" defTabSz="2292095">
              <a:lnSpc>
                <a:spcPct val="120000"/>
              </a:lnSpc>
              <a:spcBef>
                <a:spcPts val="2200"/>
              </a:spcBef>
              <a:defRPr sz="3196"/>
            </a:pPr>
            <a:r>
              <a:t>Dens (128)    —&gt; ReLU —&gt; Dropout(0.2)</a:t>
            </a:r>
          </a:p>
          <a:p>
            <a:pPr lvl="3" marL="1947883" indent="-372067" defTabSz="2292095">
              <a:lnSpc>
                <a:spcPct val="120000"/>
              </a:lnSpc>
              <a:spcBef>
                <a:spcPts val="2200"/>
              </a:spcBef>
              <a:defRPr sz="3196"/>
            </a:pPr>
            <a:r>
              <a:t>Dense(1)       —&gt; Predicted Bone Age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Output"/>
          <p:cNvSpPr txBox="1"/>
          <p:nvPr>
            <p:ph type="title" idx="4294967295"/>
          </p:nvPr>
        </p:nvSpPr>
        <p:spPr>
          <a:xfrm>
            <a:off x="707202" y="950759"/>
            <a:ext cx="9652001" cy="152400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pc="0"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Output </a:t>
            </a:r>
          </a:p>
        </p:txBody>
      </p:sp>
      <p:sp>
        <p:nvSpPr>
          <p:cNvPr id="199" name="Final Output : Bone Age (in Years)…"/>
          <p:cNvSpPr txBox="1"/>
          <p:nvPr>
            <p:ph type="body" idx="4294967295"/>
          </p:nvPr>
        </p:nvSpPr>
        <p:spPr>
          <a:xfrm>
            <a:off x="707202" y="2893973"/>
            <a:ext cx="21673276" cy="9561738"/>
          </a:xfrm>
          <a:prstGeom prst="rect">
            <a:avLst/>
          </a:prstGeom>
        </p:spPr>
        <p:txBody>
          <a:bodyPr/>
          <a:lstStyle/>
          <a:p>
            <a:pPr marL="558800" indent="-558800">
              <a:defRPr sz="3400"/>
            </a:pPr>
            <a:r>
              <a:t>Final Output : Bone Age (in Years)</a:t>
            </a:r>
          </a:p>
          <a:p>
            <a:pPr marL="558800" indent="-558800">
              <a:defRPr sz="3400"/>
            </a:pPr>
            <a:r>
              <a:t>Loss Function : Huber Loss</a:t>
            </a:r>
          </a:p>
          <a:p>
            <a:pPr marL="558800" indent="-558800">
              <a:defRPr sz="3400"/>
            </a:pPr>
            <a:r>
              <a:t>Training Epochs : 50 </a:t>
            </a:r>
          </a:p>
          <a:p>
            <a:pPr marL="0" indent="0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marL="0" indent="0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Justifications </a:t>
            </a:r>
          </a:p>
          <a:p>
            <a:pPr marL="395816" indent="-395816">
              <a:defRPr sz="3400"/>
            </a:pPr>
            <a:r>
              <a:t>EfficientNet-B0 : High accuracy with only 4.4M parameters </a:t>
            </a:r>
          </a:p>
          <a:p>
            <a:pPr marL="395816" indent="-395816">
              <a:defRPr sz="3400"/>
            </a:pPr>
            <a:r>
              <a:t>Sex Embedding : Captures Biological growth differences </a:t>
            </a:r>
          </a:p>
          <a:p>
            <a:pPr marL="395816" indent="-395816">
              <a:defRPr sz="3400"/>
            </a:pPr>
            <a:r>
              <a:t>Huber Loss : Robust to Outliers compared to MSE </a:t>
            </a:r>
          </a:p>
          <a:p>
            <a:pPr marL="395816" indent="-395816">
              <a:defRPr sz="3400"/>
            </a:pPr>
            <a:r>
              <a:t>Dropout : Increases Generalization and prevents overfitting on medical images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XGBOOST Ensembles Model"/>
          <p:cNvSpPr txBox="1"/>
          <p:nvPr>
            <p:ph type="title" idx="4294967295"/>
          </p:nvPr>
        </p:nvSpPr>
        <p:spPr>
          <a:xfrm>
            <a:off x="1189070" y="666109"/>
            <a:ext cx="14247246" cy="1524001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pc="0" sz="6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XGBOOST Ensembles Model </a:t>
            </a:r>
          </a:p>
        </p:txBody>
      </p:sp>
      <p:sp>
        <p:nvSpPr>
          <p:cNvPr id="202" name="Features taken from the trained…"/>
          <p:cNvSpPr txBox="1"/>
          <p:nvPr>
            <p:ph type="body" idx="4294967295"/>
          </p:nvPr>
        </p:nvSpPr>
        <p:spPr>
          <a:xfrm>
            <a:off x="1270000" y="2641600"/>
            <a:ext cx="22370795" cy="10422643"/>
          </a:xfrm>
          <a:prstGeom prst="rect">
            <a:avLst/>
          </a:prstGeom>
        </p:spPr>
        <p:txBody>
          <a:bodyPr/>
          <a:lstStyle/>
          <a:p>
            <a:pPr marL="0" indent="0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Features taken from the trained </a:t>
            </a:r>
          </a:p>
          <a:p>
            <a:pPr marL="0" indent="0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CNN regression model </a:t>
            </a:r>
          </a:p>
          <a:p>
            <a:pPr marL="558800" indent="-558800">
              <a:defRPr sz="3400"/>
            </a:pPr>
            <a:r>
              <a:t>Model : XGBoost Regressor </a:t>
            </a:r>
          </a:p>
          <a:p>
            <a:pPr marL="558800" indent="-558800">
              <a:defRPr sz="3400"/>
            </a:pPr>
            <a:r>
              <a:t>Input : 1312-Dim extracted CNN features</a:t>
            </a:r>
          </a:p>
          <a:p>
            <a:pPr marL="0" indent="0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marL="0" indent="0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marL="0" indent="0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marL="0" indent="0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Weighted Ensemble </a:t>
            </a:r>
          </a:p>
          <a:p>
            <a:pPr marL="0" indent="0">
              <a:buClrTx/>
              <a:buSzTx/>
              <a:buNone/>
            </a:pPr>
            <a:r>
              <a:t>Final Prediction = 0.7 X CNN + 0.3 X XGBoost</a:t>
            </a:r>
          </a:p>
          <a:p>
            <a:pPr marL="0" indent="0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203" name="Line"/>
          <p:cNvSpPr/>
          <p:nvPr/>
        </p:nvSpPr>
        <p:spPr>
          <a:xfrm flipV="1">
            <a:off x="15200857" y="1906288"/>
            <a:ext cx="1" cy="9903424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4" name="Purpose :"/>
          <p:cNvSpPr txBox="1"/>
          <p:nvPr/>
        </p:nvSpPr>
        <p:spPr>
          <a:xfrm>
            <a:off x="16353580" y="3682900"/>
            <a:ext cx="2788616" cy="90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Purpose :</a:t>
            </a:r>
          </a:p>
        </p:txBody>
      </p:sp>
      <p:sp>
        <p:nvSpPr>
          <p:cNvPr id="205" name="To Combine deep leaning features…"/>
          <p:cNvSpPr txBox="1"/>
          <p:nvPr/>
        </p:nvSpPr>
        <p:spPr>
          <a:xfrm>
            <a:off x="16280041" y="5234558"/>
            <a:ext cx="7729145" cy="324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558800" indent="-558800">
              <a:buClr>
                <a:srgbClr val="FFFFFF"/>
              </a:buClr>
              <a:buSzPct val="100000"/>
              <a:buChar char="•"/>
              <a:defRPr sz="3400"/>
            </a:pPr>
            <a:r>
              <a:t>To Combine deep leaning features </a:t>
            </a:r>
          </a:p>
          <a:p>
            <a:pPr>
              <a:defRPr sz="3400"/>
            </a:pPr>
            <a:r>
              <a:t>With traditional boosting </a:t>
            </a:r>
          </a:p>
          <a:p>
            <a:pPr marL="395816" indent="-395816">
              <a:buClr>
                <a:srgbClr val="FFFFFF"/>
              </a:buClr>
              <a:buSzPct val="100000"/>
              <a:buChar char="•"/>
              <a:defRPr sz="3400"/>
            </a:pPr>
            <a:r>
              <a:t>Improves regression accuracy </a:t>
            </a:r>
          </a:p>
          <a:p>
            <a:pPr>
              <a:defRPr sz="3400"/>
            </a:pPr>
            <a:r>
              <a:t>And generalisation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lassification Model Architecture"/>
          <p:cNvSpPr txBox="1"/>
          <p:nvPr>
            <p:ph type="title" idx="4294967295"/>
          </p:nvPr>
        </p:nvSpPr>
        <p:spPr>
          <a:xfrm>
            <a:off x="5331774" y="568056"/>
            <a:ext cx="14247246" cy="1524001"/>
          </a:xfrm>
          <a:prstGeom prst="rect">
            <a:avLst/>
          </a:prstGeom>
        </p:spPr>
        <p:txBody>
          <a:bodyPr/>
          <a:lstStyle>
            <a:lvl1pPr algn="l" defTabSz="718184">
              <a:defRPr spc="-219" sz="7308"/>
            </a:lvl1pPr>
          </a:lstStyle>
          <a:p>
            <a:pPr/>
            <a:r>
              <a:t>Classification Model Architecture </a:t>
            </a:r>
          </a:p>
        </p:txBody>
      </p:sp>
      <p:sp>
        <p:nvSpPr>
          <p:cNvPr id="208" name="EfficientNet-B0 Backbone (Feature Extractor)…"/>
          <p:cNvSpPr txBox="1"/>
          <p:nvPr>
            <p:ph type="body" idx="4294967295"/>
          </p:nvPr>
        </p:nvSpPr>
        <p:spPr>
          <a:xfrm>
            <a:off x="1270000" y="2641600"/>
            <a:ext cx="22370795" cy="10422643"/>
          </a:xfrm>
          <a:prstGeom prst="rect">
            <a:avLst/>
          </a:prstGeom>
        </p:spPr>
        <p:txBody>
          <a:bodyPr/>
          <a:lstStyle/>
          <a:p>
            <a:pPr marL="0" indent="0" defTabSz="82550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u="sng"/>
              <a:t>EfficientNet-B0 Backbone </a:t>
            </a:r>
            <a:r>
              <a:t>(Feature Extractor)</a:t>
            </a:r>
          </a:p>
          <a:p>
            <a:pPr marL="558800" indent="-558800">
              <a:lnSpc>
                <a:spcPct val="120000"/>
              </a:lnSpc>
              <a:defRPr sz="3400"/>
            </a:pPr>
            <a:r>
              <a:t>Input : 384 x 384 x 3 RGB Hand X-Ray Image</a:t>
            </a:r>
          </a:p>
          <a:p>
            <a:pPr marL="558800" indent="-558800">
              <a:lnSpc>
                <a:spcPct val="120000"/>
              </a:lnSpc>
              <a:defRPr sz="3400"/>
            </a:pPr>
            <a:r>
              <a:t>Pre-Trained on ImageNet</a:t>
            </a:r>
          </a:p>
          <a:p>
            <a:pPr marL="558800" indent="-558800">
              <a:lnSpc>
                <a:spcPct val="120000"/>
              </a:lnSpc>
              <a:defRPr sz="3400"/>
            </a:pPr>
            <a:r>
              <a:t>Output Features : 1280 -Dimensional Vector (via Global Average Pooling)</a:t>
            </a:r>
          </a:p>
          <a:p>
            <a:pPr marL="0" indent="0" defTabSz="82550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rPr u="sng"/>
              <a:t>Sex-Aware Head</a:t>
            </a:r>
            <a:r>
              <a:t> (Image features + sex to predict bone_age)</a:t>
            </a:r>
          </a:p>
          <a:p>
            <a:pPr marL="558800" indent="-558800">
              <a:lnSpc>
                <a:spcPct val="120000"/>
              </a:lnSpc>
              <a:defRPr sz="3400"/>
            </a:pPr>
            <a:r>
              <a:t>Sex Embedding : 2 —&gt; 32 Dimensions </a:t>
            </a:r>
          </a:p>
          <a:p>
            <a:pPr marL="558800" indent="-558800">
              <a:lnSpc>
                <a:spcPct val="120000"/>
              </a:lnSpc>
              <a:defRPr sz="3400"/>
            </a:pPr>
            <a:r>
              <a:t>Feature Concatenation : 1280 + 32 =1,312 Features </a:t>
            </a:r>
          </a:p>
          <a:p>
            <a:pPr marL="395816" indent="-395816">
              <a:lnSpc>
                <a:spcPct val="120000"/>
              </a:lnSpc>
              <a:defRPr sz="3400"/>
            </a:pPr>
            <a:r>
              <a:t>Fully Connected Layers :</a:t>
            </a:r>
          </a:p>
          <a:p>
            <a:pPr lvl="3" marL="2072216" indent="-395816">
              <a:lnSpc>
                <a:spcPct val="120000"/>
              </a:lnSpc>
              <a:defRPr sz="3400"/>
            </a:pPr>
            <a:r>
              <a:t>Dense (256) —&gt; ReLU —&gt; Dropout(0.3)</a:t>
            </a:r>
          </a:p>
          <a:p>
            <a:pPr lvl="3" marL="2072216" indent="-395816">
              <a:lnSpc>
                <a:spcPct val="120000"/>
              </a:lnSpc>
              <a:defRPr sz="3400"/>
            </a:pPr>
            <a:r>
              <a:t>Dens (128)    —&gt; ReLU —&gt; Dropout(0.2)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Output Layer"/>
          <p:cNvSpPr txBox="1"/>
          <p:nvPr>
            <p:ph type="title" idx="4294967295"/>
          </p:nvPr>
        </p:nvSpPr>
        <p:spPr>
          <a:xfrm>
            <a:off x="1270000" y="838200"/>
            <a:ext cx="9652000" cy="1524000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pc="0"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Output Layer </a:t>
            </a:r>
          </a:p>
        </p:txBody>
      </p:sp>
      <p:sp>
        <p:nvSpPr>
          <p:cNvPr id="211" name="Dense (4) + Softmax Activation…"/>
          <p:cNvSpPr txBox="1"/>
          <p:nvPr>
            <p:ph type="body" idx="4294967295"/>
          </p:nvPr>
        </p:nvSpPr>
        <p:spPr>
          <a:xfrm>
            <a:off x="1270000" y="2641599"/>
            <a:ext cx="22341583" cy="10887672"/>
          </a:xfrm>
          <a:prstGeom prst="rect">
            <a:avLst/>
          </a:prstGeom>
        </p:spPr>
        <p:txBody>
          <a:bodyPr/>
          <a:lstStyle/>
          <a:p>
            <a:pPr>
              <a:defRPr sz="4400"/>
            </a:pPr>
            <a:r>
              <a:t>Dense (4) + Softmax Activation </a:t>
            </a:r>
          </a:p>
          <a:p>
            <a:pPr>
              <a:defRPr sz="4400"/>
            </a:pPr>
            <a:r>
              <a:t>Predicted Classes :</a:t>
            </a:r>
          </a:p>
          <a:p>
            <a:pPr lvl="2">
              <a:defRPr sz="3300"/>
            </a:pPr>
            <a:r>
              <a:t>Infant / Toddler</a:t>
            </a:r>
          </a:p>
          <a:p>
            <a:pPr lvl="2">
              <a:defRPr sz="3300"/>
            </a:pPr>
            <a:r>
              <a:t>Child </a:t>
            </a:r>
          </a:p>
          <a:p>
            <a:pPr lvl="2">
              <a:defRPr sz="3300"/>
            </a:pPr>
            <a:r>
              <a:t>Pre-Adolescent </a:t>
            </a:r>
          </a:p>
          <a:p>
            <a:pPr lvl="2">
              <a:defRPr sz="3300"/>
            </a:pPr>
            <a:r>
              <a:t>Adolescent </a:t>
            </a:r>
          </a:p>
          <a:p>
            <a:pPr lvl="2">
              <a:defRPr sz="3300"/>
            </a:pPr>
          </a:p>
          <a:p>
            <a:pPr lvl="2" marL="0" indent="914400">
              <a:buClrTx/>
              <a:buSzTx/>
              <a:buNone/>
              <a:defRPr sz="3300"/>
            </a:pPr>
          </a:p>
          <a:p>
            <a:pPr marL="0" indent="0" defTabSz="825500">
              <a:spcBef>
                <a:spcPts val="0"/>
              </a:spcBef>
              <a:buClrTx/>
              <a:buSzTx/>
              <a:buNone/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Training Setup :</a:t>
            </a:r>
          </a:p>
          <a:p>
            <a:pPr marL="558800" indent="-558800">
              <a:defRPr sz="3400"/>
            </a:pPr>
            <a:r>
              <a:t>Loss Function : Categorical Cross Entropy </a:t>
            </a:r>
          </a:p>
          <a:p>
            <a:pPr marL="558800" indent="-558800">
              <a:defRPr sz="3400"/>
            </a:pPr>
            <a:r>
              <a:t>Optimizer : AdamW </a:t>
            </a:r>
          </a:p>
        </p:txBody>
      </p:sp>
      <p:sp>
        <p:nvSpPr>
          <p:cNvPr id="212" name="Line"/>
          <p:cNvSpPr/>
          <p:nvPr/>
        </p:nvSpPr>
        <p:spPr>
          <a:xfrm flipV="1">
            <a:off x="12192000" y="1906287"/>
            <a:ext cx="1" cy="9903425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3" name="Justification"/>
          <p:cNvSpPr txBox="1"/>
          <p:nvPr/>
        </p:nvSpPr>
        <p:spPr>
          <a:xfrm>
            <a:off x="13462000" y="3955585"/>
            <a:ext cx="4248303" cy="1009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sz="5400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Justification </a:t>
            </a:r>
          </a:p>
        </p:txBody>
      </p:sp>
      <p:sp>
        <p:nvSpPr>
          <p:cNvPr id="214" name="Shared Backbone Improves generalisation…"/>
          <p:cNvSpPr txBox="1"/>
          <p:nvPr/>
        </p:nvSpPr>
        <p:spPr>
          <a:xfrm>
            <a:off x="13461999" y="5425663"/>
            <a:ext cx="10729961" cy="2383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95816" indent="-395816">
              <a:buClr>
                <a:srgbClr val="FFFFFF"/>
              </a:buClr>
              <a:buSzPct val="100000"/>
              <a:buChar char="•"/>
              <a:defRPr sz="3400"/>
            </a:pPr>
            <a:r>
              <a:t>Shared Backbone Improves generalisation </a:t>
            </a:r>
          </a:p>
          <a:p>
            <a:pPr marL="395816" indent="-395816">
              <a:buClr>
                <a:srgbClr val="FFFFFF"/>
              </a:buClr>
              <a:buSzPct val="100000"/>
              <a:buChar char="•"/>
              <a:defRPr sz="3400"/>
            </a:pPr>
            <a:r>
              <a:t>Sex embedding improves class boundary learning </a:t>
            </a:r>
          </a:p>
          <a:p>
            <a:pPr marL="395816" indent="-395816">
              <a:buClr>
                <a:srgbClr val="FFFFFF"/>
              </a:buClr>
              <a:buSzPct val="100000"/>
              <a:buChar char="•"/>
              <a:defRPr sz="3400"/>
            </a:pPr>
            <a:r>
              <a:t>Softmax enables probabilistic class predictions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raining Configuration"/>
          <p:cNvSpPr txBox="1"/>
          <p:nvPr>
            <p:ph type="title" idx="4294967295"/>
          </p:nvPr>
        </p:nvSpPr>
        <p:spPr>
          <a:xfrm>
            <a:off x="1270000" y="838200"/>
            <a:ext cx="9652000" cy="1524000"/>
          </a:xfrm>
          <a:prstGeom prst="rect">
            <a:avLst/>
          </a:prstGeom>
        </p:spPr>
        <p:txBody>
          <a:bodyPr/>
          <a:lstStyle>
            <a:lvl1pPr algn="l" defTabSz="718184">
              <a:defRPr spc="-219" sz="7308"/>
            </a:lvl1pPr>
          </a:lstStyle>
          <a:p>
            <a:pPr/>
            <a:r>
              <a:t>Training Configuration </a:t>
            </a:r>
          </a:p>
        </p:txBody>
      </p:sp>
      <p:sp>
        <p:nvSpPr>
          <p:cNvPr id="217" name="Hardware Setup…"/>
          <p:cNvSpPr txBox="1"/>
          <p:nvPr/>
        </p:nvSpPr>
        <p:spPr>
          <a:xfrm>
            <a:off x="1278059" y="2283404"/>
            <a:ext cx="12860834" cy="10865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sz="5400" u="sng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Hardware Setup 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System : Apple MAC M4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Memory : 16 GB RAM 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Acceleration : MPS</a:t>
            </a:r>
          </a:p>
          <a:p>
            <a:pPr defTabSz="825500">
              <a:spcBef>
                <a:spcPts val="0"/>
              </a:spcBef>
              <a:defRPr sz="5400" u="sng">
                <a:solidFill>
                  <a:srgbClr val="D5D5D5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Optimization &amp; Hyper parameters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Optimizer : AdamW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Learning Rate : 1 X 10^-4 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Learning Rate Scheduler : Cosine Anneling</a:t>
            </a:r>
          </a:p>
          <a:p>
            <a:pPr lvl="1"/>
            <a:r>
              <a:t> with Warmup 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 Batch size : 16 (Memory optimized )</a:t>
            </a:r>
          </a:p>
        </p:txBody>
      </p:sp>
      <p:sp>
        <p:nvSpPr>
          <p:cNvPr id="218" name="Line"/>
          <p:cNvSpPr/>
          <p:nvPr/>
        </p:nvSpPr>
        <p:spPr>
          <a:xfrm flipV="1">
            <a:off x="15200858" y="1906287"/>
            <a:ext cx="1" cy="9903425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9" name="Training Settings…"/>
          <p:cNvSpPr txBox="1"/>
          <p:nvPr/>
        </p:nvSpPr>
        <p:spPr>
          <a:xfrm>
            <a:off x="16262823" y="2756891"/>
            <a:ext cx="7050939" cy="761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Training Settings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Epochs:</a:t>
            </a:r>
          </a:p>
          <a:p>
            <a:pPr lvl="2" marL="1676400" indent="-558800">
              <a:buClr>
                <a:srgbClr val="FFFFFF"/>
              </a:buClr>
              <a:buSzPct val="100000"/>
              <a:buChar char="•"/>
            </a:pPr>
            <a:r>
              <a:t>Regression : 50</a:t>
            </a:r>
          </a:p>
          <a:p>
            <a:pPr lvl="2" marL="1676400" indent="-558800">
              <a:buClr>
                <a:srgbClr val="FFFFFF"/>
              </a:buClr>
              <a:buSzPct val="100000"/>
              <a:buChar char="•"/>
            </a:pPr>
            <a:r>
              <a:t>Classification : 40 </a:t>
            </a:r>
          </a:p>
          <a:p>
            <a:pPr marL="558800" indent="-558800">
              <a:buClr>
                <a:srgbClr val="FFFFFF"/>
              </a:buClr>
              <a:buSzPct val="100000"/>
              <a:buChar char="•"/>
            </a:pPr>
            <a:r>
              <a:t>Early stopping : </a:t>
            </a:r>
          </a:p>
          <a:p>
            <a:pPr lvl="2" marL="1676400" indent="-558800">
              <a:buClr>
                <a:srgbClr val="FFFFFF"/>
              </a:buClr>
              <a:buSzPct val="100000"/>
              <a:buChar char="•"/>
            </a:pPr>
            <a:r>
              <a:t>Patience : 10 </a:t>
            </a:r>
          </a:p>
          <a:p>
            <a:pPr lvl="2" marL="1676400" indent="-558800">
              <a:buClr>
                <a:srgbClr val="FFFFFF"/>
              </a:buClr>
              <a:buSzPct val="100000"/>
              <a:buChar char="•"/>
            </a:pPr>
            <a:r>
              <a:t>Min_delta : 0.001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gression Perfomance"/>
          <p:cNvSpPr txBox="1"/>
          <p:nvPr>
            <p:ph type="title" idx="4294967295"/>
          </p:nvPr>
        </p:nvSpPr>
        <p:spPr>
          <a:xfrm>
            <a:off x="6114877" y="544043"/>
            <a:ext cx="12154246" cy="1524001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Regression Perfomance </a:t>
            </a:r>
          </a:p>
        </p:txBody>
      </p:sp>
      <p:graphicFrame>
        <p:nvGraphicFramePr>
          <p:cNvPr id="222" name="Table 1"/>
          <p:cNvGraphicFramePr/>
          <p:nvPr/>
        </p:nvGraphicFramePr>
        <p:xfrm>
          <a:off x="1700417" y="3473377"/>
          <a:ext cx="9833575" cy="8742989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{C7B018BB-80A7-4F77-B60F-C8B233D01FF8}</a:tableStyleId>
              </a:tblPr>
              <a:tblGrid>
                <a:gridCol w="4910436"/>
                <a:gridCol w="4910436"/>
              </a:tblGrid>
              <a:tr h="124718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Metric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Value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24718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latin typeface="Graphik"/>
                          <a:ea typeface="Graphik"/>
                          <a:cs typeface="Graphik"/>
                        </a:rPr>
                        <a:t>MAE (Years)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0.6154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24718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latin typeface="Graphik"/>
                          <a:ea typeface="Graphik"/>
                          <a:cs typeface="Graphik"/>
                        </a:rPr>
                        <a:t>MAE (Months)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7.38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24718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latin typeface="Graphik"/>
                          <a:ea typeface="Graphik"/>
                          <a:cs typeface="Graphik"/>
                        </a:rPr>
                        <a:t>RMSE (Years)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0.8126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24718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latin typeface="Graphik"/>
                          <a:ea typeface="Graphik"/>
                          <a:cs typeface="Graphik"/>
                        </a:rPr>
                        <a:t>RMSE (Months)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9.75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24718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3200">
                          <a:latin typeface="Graphik"/>
                          <a:ea typeface="Graphik"/>
                          <a:cs typeface="Graphik"/>
                        </a:defRPr>
                      </a:pPr>
                      <a:r>
                        <a:t>R</a:t>
                      </a:r>
                      <a:r>
                        <a:t>^2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0.9431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247184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latin typeface="Graphik"/>
                          <a:ea typeface="Graphik"/>
                          <a:cs typeface="Graphik"/>
                        </a:rPr>
                        <a:t>Samples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1,829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sp>
        <p:nvSpPr>
          <p:cNvPr id="223" name="The Regression model achieves an MAE of 7.38 months on the holdout test set , which lies within acceptable clinical tolerance…"/>
          <p:cNvSpPr txBox="1"/>
          <p:nvPr>
            <p:ph type="body" sz="half" idx="4294967295"/>
          </p:nvPr>
        </p:nvSpPr>
        <p:spPr>
          <a:xfrm>
            <a:off x="13158825" y="3622121"/>
            <a:ext cx="9652001" cy="8432801"/>
          </a:xfrm>
          <a:prstGeom prst="rect">
            <a:avLst/>
          </a:prstGeom>
        </p:spPr>
        <p:txBody>
          <a:bodyPr/>
          <a:lstStyle/>
          <a:p>
            <a:pPr marL="558800" indent="-558800">
              <a:defRPr sz="3900"/>
            </a:pPr>
            <a:r>
              <a:t>The Regression model achieves an MAE of 7.38 months on the holdout test set , which lies within acceptable clinical tolerance </a:t>
            </a:r>
          </a:p>
          <a:p>
            <a:pPr marL="558800" indent="-558800">
              <a:defRPr sz="3900"/>
            </a:pPr>
            <a:r>
              <a:t>A high R^2 score of 0.9431 indicates that the model explains 94.31% of the variance in bone age </a:t>
            </a:r>
          </a:p>
          <a:p>
            <a:pPr marL="558800" indent="-558800">
              <a:defRPr sz="3900"/>
            </a:pPr>
            <a:r>
              <a:t>The Close match between validation and test error confirms the model’s strong generalization and consistency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redicted vs Actual Regression Plot"/>
          <p:cNvSpPr txBox="1"/>
          <p:nvPr>
            <p:ph type="title" idx="4294967295"/>
          </p:nvPr>
        </p:nvSpPr>
        <p:spPr>
          <a:xfrm>
            <a:off x="4040365" y="470504"/>
            <a:ext cx="16303270" cy="1524001"/>
          </a:xfrm>
          <a:prstGeom prst="rect">
            <a:avLst/>
          </a:prstGeom>
        </p:spPr>
        <p:txBody>
          <a:bodyPr/>
          <a:lstStyle>
            <a:lvl1pPr algn="l" defTabSz="775969">
              <a:defRPr spc="-236" sz="7896"/>
            </a:lvl1pPr>
          </a:lstStyle>
          <a:p>
            <a:pPr/>
            <a:r>
              <a:t>Predicted vs Actual Regression Plot </a:t>
            </a:r>
          </a:p>
        </p:txBody>
      </p:sp>
      <p:pic>
        <p:nvPicPr>
          <p:cNvPr id="226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41056" y="2340941"/>
            <a:ext cx="11049141" cy="11031877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The Scatter plot shows a strong alignment between predicted and actual bone ages , closely following the perfect prediction line…"/>
          <p:cNvSpPr txBox="1"/>
          <p:nvPr>
            <p:ph type="body" sz="half" idx="4294967295"/>
          </p:nvPr>
        </p:nvSpPr>
        <p:spPr>
          <a:xfrm>
            <a:off x="14556068" y="2992521"/>
            <a:ext cx="9652001" cy="8432801"/>
          </a:xfrm>
          <a:prstGeom prst="rect">
            <a:avLst/>
          </a:prstGeom>
        </p:spPr>
        <p:txBody>
          <a:bodyPr/>
          <a:lstStyle/>
          <a:p>
            <a:pPr/>
            <a:r>
              <a:t>The Scatter plot shows a strong alignment between predicted and actual bone ages , closely following the perfect prediction line </a:t>
            </a:r>
          </a:p>
          <a:p>
            <a:pPr/>
            <a:r>
              <a:t>The High R^2 value of 0.9413 confirms excellent regression accuracy and generalization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gression Error Analysis"/>
          <p:cNvSpPr txBox="1"/>
          <p:nvPr>
            <p:ph type="title" idx="4294967295"/>
          </p:nvPr>
        </p:nvSpPr>
        <p:spPr>
          <a:xfrm>
            <a:off x="3802225" y="764660"/>
            <a:ext cx="16779550" cy="1524001"/>
          </a:xfrm>
          <a:prstGeom prst="rect">
            <a:avLst/>
          </a:prstGeom>
        </p:spPr>
        <p:txBody>
          <a:bodyPr/>
          <a:lstStyle/>
          <a:p>
            <a:pPr/>
            <a:r>
              <a:t>Regression Error Analysis</a:t>
            </a:r>
          </a:p>
        </p:txBody>
      </p:sp>
      <p:pic>
        <p:nvPicPr>
          <p:cNvPr id="230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0668" y="2562354"/>
            <a:ext cx="22502664" cy="7752872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he error distribution is centered near zero and approximately Gaussian , indicating unbiased and stable predictions…"/>
          <p:cNvSpPr txBox="1"/>
          <p:nvPr>
            <p:ph type="body" sz="quarter" idx="4294967295"/>
          </p:nvPr>
        </p:nvSpPr>
        <p:spPr>
          <a:xfrm>
            <a:off x="853278" y="10588918"/>
            <a:ext cx="22677444" cy="2849765"/>
          </a:xfrm>
          <a:prstGeom prst="rect">
            <a:avLst/>
          </a:prstGeom>
        </p:spPr>
        <p:txBody>
          <a:bodyPr/>
          <a:lstStyle/>
          <a:p>
            <a:pPr marL="558800" indent="-558800">
              <a:defRPr sz="3600"/>
            </a:pPr>
            <a:r>
              <a:t>The error distribution is centered near zero and approximately Gaussian , indicating unbiased and stable predictions </a:t>
            </a:r>
          </a:p>
          <a:p>
            <a:pPr marL="558800" indent="-558800">
              <a:defRPr sz="3600"/>
            </a:pPr>
            <a:r>
              <a:t>The error vs age plot shows no strong trend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lassification Metrics"/>
          <p:cNvSpPr txBox="1"/>
          <p:nvPr>
            <p:ph type="title" idx="4294967295"/>
          </p:nvPr>
        </p:nvSpPr>
        <p:spPr>
          <a:xfrm>
            <a:off x="7366000" y="960765"/>
            <a:ext cx="9652001" cy="1524001"/>
          </a:xfrm>
          <a:prstGeom prst="rect">
            <a:avLst/>
          </a:prstGeom>
        </p:spPr>
        <p:txBody>
          <a:bodyPr/>
          <a:lstStyle>
            <a:lvl1pPr algn="l" defTabSz="751205">
              <a:defRPr spc="-229" sz="7644"/>
            </a:lvl1pPr>
          </a:lstStyle>
          <a:p>
            <a:pPr/>
            <a:r>
              <a:t>Classification Metrics </a:t>
            </a:r>
          </a:p>
        </p:txBody>
      </p:sp>
      <p:graphicFrame>
        <p:nvGraphicFramePr>
          <p:cNvPr id="234" name="Table 1"/>
          <p:cNvGraphicFramePr/>
          <p:nvPr/>
        </p:nvGraphicFramePr>
        <p:xfrm>
          <a:off x="2877043" y="3155730"/>
          <a:ext cx="10129168" cy="895709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{C7B018BB-80A7-4F77-B60F-C8B233D01FF8}</a:tableStyleId>
              </a:tblPr>
              <a:tblGrid>
                <a:gridCol w="5058233"/>
                <a:gridCol w="5058233"/>
              </a:tblGrid>
              <a:tr h="149073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Metric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Value 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490732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Accuracy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88.90%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490732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Precision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0.8924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490732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0.8890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490732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F1 - Score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0.8894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490732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Quadratic Weighted Kappa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0.8950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sp>
        <p:nvSpPr>
          <p:cNvPr id="235" name="This high QWK score indicates excellent agreement with ground truth , accounting for ordinal nature of age categories"/>
          <p:cNvSpPr txBox="1"/>
          <p:nvPr>
            <p:ph type="body" sz="half" idx="4294967295"/>
          </p:nvPr>
        </p:nvSpPr>
        <p:spPr>
          <a:xfrm>
            <a:off x="13894216" y="5345773"/>
            <a:ext cx="9652001" cy="8432801"/>
          </a:xfrm>
          <a:prstGeom prst="rect">
            <a:avLst/>
          </a:prstGeom>
        </p:spPr>
        <p:txBody>
          <a:bodyPr/>
          <a:lstStyle/>
          <a:p>
            <a:pPr/>
            <a:r>
              <a:t>This high QWK score indicates excellent agreement with ground truth , accounting for ordinal nature of age categories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Confusion Matrix"/>
          <p:cNvSpPr txBox="1"/>
          <p:nvPr>
            <p:ph type="title" idx="4294967295"/>
          </p:nvPr>
        </p:nvSpPr>
        <p:spPr>
          <a:xfrm>
            <a:off x="7366000" y="1132356"/>
            <a:ext cx="9652001" cy="1524001"/>
          </a:xfrm>
          <a:prstGeom prst="rect">
            <a:avLst/>
          </a:prstGeom>
        </p:spPr>
        <p:txBody>
          <a:bodyPr/>
          <a:lstStyle/>
          <a:p>
            <a:pPr/>
            <a:r>
              <a:t>Confusion Matrix</a:t>
            </a:r>
          </a:p>
        </p:txBody>
      </p:sp>
      <p:pic>
        <p:nvPicPr>
          <p:cNvPr id="238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2911" y="2921326"/>
            <a:ext cx="12502464" cy="10480581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he matrix shows strong diagonal dominance , indicating high classification accuracy across all ages groups…"/>
          <p:cNvSpPr txBox="1"/>
          <p:nvPr>
            <p:ph type="body" sz="half" idx="4294967295"/>
          </p:nvPr>
        </p:nvSpPr>
        <p:spPr>
          <a:xfrm>
            <a:off x="14090321" y="3311191"/>
            <a:ext cx="9881331" cy="9007612"/>
          </a:xfrm>
          <a:prstGeom prst="rect">
            <a:avLst/>
          </a:prstGeom>
        </p:spPr>
        <p:txBody>
          <a:bodyPr/>
          <a:lstStyle/>
          <a:p>
            <a:pPr/>
            <a:r>
              <a:t>The matrix shows strong diagonal dominance , indicating high classification accuracy across all ages groups </a:t>
            </a:r>
          </a:p>
          <a:p>
            <a:pPr/>
            <a:r>
              <a:t>Most errors occur between adjacent stages (Child &lt;—&gt; Pre-Adolescent ) , which is expected due to their overlapping developmental boundaries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Individual Model Comparison"/>
          <p:cNvSpPr txBox="1"/>
          <p:nvPr>
            <p:ph type="title" idx="4294967295"/>
          </p:nvPr>
        </p:nvSpPr>
        <p:spPr>
          <a:xfrm>
            <a:off x="4856094" y="887226"/>
            <a:ext cx="14671812" cy="1524001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Individual Model Comparison </a:t>
            </a:r>
          </a:p>
        </p:txBody>
      </p:sp>
      <p:graphicFrame>
        <p:nvGraphicFramePr>
          <p:cNvPr id="242" name="Table 1"/>
          <p:cNvGraphicFramePr/>
          <p:nvPr/>
        </p:nvGraphicFramePr>
        <p:xfrm>
          <a:off x="4207578" y="3169598"/>
          <a:ext cx="15981544" cy="738950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{C7B018BB-80A7-4F77-B60F-C8B233D01FF8}</a:tableStyleId>
              </a:tblPr>
              <a:tblGrid>
                <a:gridCol w="3992211"/>
                <a:gridCol w="3992211"/>
                <a:gridCol w="3992211"/>
                <a:gridCol w="3992211"/>
              </a:tblGrid>
              <a:tr h="1844201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Model 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MAE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RMSE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R^2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844201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CNN Only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7.35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9.66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0.9444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844201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7.89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10.12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0.9298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844201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Ensemble(0.7+0.3)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7.15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9.43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0.9467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sp>
        <p:nvSpPr>
          <p:cNvPr id="243" name="Improvement : Ensemble Combines CNN’s feature learning with XGBoost’s tree-based refinement"/>
          <p:cNvSpPr txBox="1"/>
          <p:nvPr>
            <p:ph type="body" sz="quarter" idx="4294967295"/>
          </p:nvPr>
        </p:nvSpPr>
        <p:spPr>
          <a:xfrm>
            <a:off x="4995982" y="11304773"/>
            <a:ext cx="16214411" cy="2870543"/>
          </a:xfrm>
          <a:prstGeom prst="rect">
            <a:avLst/>
          </a:prstGeom>
        </p:spPr>
        <p:txBody>
          <a:bodyPr/>
          <a:lstStyle/>
          <a:p>
            <a:pPr marL="558800" indent="-558800">
              <a:defRPr b="1" sz="3600"/>
            </a:pPr>
            <a:r>
              <a:t>Improvement </a:t>
            </a:r>
            <a:r>
              <a:rPr b="0"/>
              <a:t>: Ensemble Combines CNN’s feature learning with XGBoost’s tree-based refinement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Model Interpretability (Grad-cam)"/>
          <p:cNvSpPr txBox="1"/>
          <p:nvPr>
            <p:ph type="title" idx="4294967295"/>
          </p:nvPr>
        </p:nvSpPr>
        <p:spPr>
          <a:xfrm>
            <a:off x="3962134" y="1009791"/>
            <a:ext cx="16459732" cy="1524001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Model Interpretability (Grad-cam)</a:t>
            </a:r>
          </a:p>
        </p:txBody>
      </p:sp>
      <p:pic>
        <p:nvPicPr>
          <p:cNvPr id="246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6687" y="3212636"/>
            <a:ext cx="16256001" cy="8369301"/>
          </a:xfrm>
          <a:prstGeom prst="rect">
            <a:avLst/>
          </a:prstGeom>
          <a:ln w="12700">
            <a:miter lim="400000"/>
          </a:ln>
        </p:spPr>
      </p:pic>
      <p:sp>
        <p:nvSpPr>
          <p:cNvPr id="247" name="The heat map shows that the model focuses on clinically important regions such as the carpal bones and growth plates…"/>
          <p:cNvSpPr txBox="1"/>
          <p:nvPr>
            <p:ph type="body" sz="quarter" idx="4294967295"/>
          </p:nvPr>
        </p:nvSpPr>
        <p:spPr>
          <a:xfrm>
            <a:off x="17203477" y="3580834"/>
            <a:ext cx="6683050" cy="8432801"/>
          </a:xfrm>
          <a:prstGeom prst="rect">
            <a:avLst/>
          </a:prstGeom>
        </p:spPr>
        <p:txBody>
          <a:bodyPr/>
          <a:lstStyle/>
          <a:p>
            <a:pPr marL="558800" indent="-558800">
              <a:defRPr sz="3700"/>
            </a:pPr>
            <a:r>
              <a:t>The heat map shows that the model focuses on clinically important regions such as the carpal bones and growth plates </a:t>
            </a:r>
          </a:p>
          <a:p>
            <a:pPr marL="558800" indent="-558800">
              <a:defRPr sz="3700"/>
            </a:pPr>
            <a:r>
              <a:t>This confirms that the network has learned medically meaningful features for bone age prediction , not background artifacts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-SNE Feature Visualizations"/>
          <p:cNvSpPr txBox="1"/>
          <p:nvPr>
            <p:ph type="title" idx="4294967295"/>
          </p:nvPr>
        </p:nvSpPr>
        <p:spPr>
          <a:xfrm>
            <a:off x="1270000" y="838199"/>
            <a:ext cx="15138996" cy="1524001"/>
          </a:xfrm>
          <a:prstGeom prst="rect">
            <a:avLst/>
          </a:prstGeom>
        </p:spPr>
        <p:txBody>
          <a:bodyPr/>
          <a:lstStyle>
            <a:lvl1pPr algn="l"/>
          </a:lstStyle>
          <a:p>
            <a:pPr/>
            <a:r>
              <a:t>t-SNE Feature Visualizations</a:t>
            </a:r>
          </a:p>
        </p:txBody>
      </p:sp>
      <p:pic>
        <p:nvPicPr>
          <p:cNvPr id="250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8889" y="2602005"/>
            <a:ext cx="11160096" cy="94115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asted-movie.heic" descr="pasted-movie.heic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158237" y="2602005"/>
            <a:ext cx="10812178" cy="94115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-SNE is a dimensionality reduction technique that converts high dimensional deep learning features into 2D for Visualisation , allowing us to observe how the model organises data by age and sex…"/>
          <p:cNvSpPr txBox="1"/>
          <p:nvPr>
            <p:ph type="body" idx="4294967295"/>
          </p:nvPr>
        </p:nvSpPr>
        <p:spPr>
          <a:xfrm>
            <a:off x="1269999" y="1240605"/>
            <a:ext cx="22022279" cy="11459395"/>
          </a:xfrm>
          <a:prstGeom prst="rect">
            <a:avLst/>
          </a:prstGeom>
        </p:spPr>
        <p:txBody>
          <a:bodyPr/>
          <a:lstStyle/>
          <a:p>
            <a:pPr/>
            <a:r>
              <a:t>t-SNE is a dimensionality reduction technique that converts high dimensional deep learning features into 2D for Visualisation , allowing us to observe how the model organises data by age and sex </a:t>
            </a:r>
          </a:p>
          <a:p>
            <a:pPr/>
          </a:p>
          <a:p>
            <a:pPr/>
            <a:r>
              <a:t>The t-SNE visualization shows clear separation between male and female feature representations, confirming that the model captures sex-specific growth patterns.</a:t>
            </a:r>
          </a:p>
          <a:p>
            <a:pPr/>
          </a:p>
          <a:p>
            <a:pPr/>
            <a:r>
              <a:t>The age-colored t-SNE plot shows a smooth progression from younger to older bone ages, indicating that the network has learned a continuous skeletal maturity representation.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onclusion"/>
          <p:cNvSpPr txBox="1"/>
          <p:nvPr>
            <p:ph type="title" idx="4294967295"/>
          </p:nvPr>
        </p:nvSpPr>
        <p:spPr>
          <a:xfrm>
            <a:off x="7365999" y="789173"/>
            <a:ext cx="9652001" cy="1524001"/>
          </a:xfrm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256" name="We successfully developed a deep learning–based system for automated bone age prediction and stage-wise classification from hand X-ray images.…"/>
          <p:cNvSpPr txBox="1"/>
          <p:nvPr>
            <p:ph type="body" idx="4294967295"/>
          </p:nvPr>
        </p:nvSpPr>
        <p:spPr>
          <a:xfrm>
            <a:off x="1000356" y="2641600"/>
            <a:ext cx="22383287" cy="9357785"/>
          </a:xfrm>
          <a:prstGeom prst="rect">
            <a:avLst/>
          </a:prstGeom>
        </p:spPr>
        <p:txBody>
          <a:bodyPr/>
          <a:lstStyle/>
          <a:p>
            <a:pPr marL="558800" indent="-558800">
              <a:defRPr sz="3400"/>
            </a:pPr>
            <a:r>
              <a:t>We successfully developed a deep learning–based system for automated bone age prediction and stage-wise classification from hand X-ray images.</a:t>
            </a:r>
          </a:p>
          <a:p>
            <a:pPr marL="558800" indent="-558800">
              <a:defRPr sz="3400"/>
            </a:pPr>
          </a:p>
          <a:p>
            <a:pPr marL="558800" indent="-558800">
              <a:defRPr sz="3400"/>
            </a:pPr>
            <a:r>
              <a:t>The regression model achieved expert-level accuracy with an MAE of 7.38 months and R² = 0.9431, while the classification model attained 88.9% accuracy.</a:t>
            </a:r>
          </a:p>
          <a:p>
            <a:pPr marL="558800" indent="-558800">
              <a:defRPr sz="3400"/>
            </a:pPr>
          </a:p>
          <a:p>
            <a:pPr marL="558800" indent="-558800">
              <a:defRPr sz="3400"/>
            </a:pPr>
            <a:r>
              <a:t>Grad-CAM and t-SNE analysis confirmed that the model learns clinically meaningful and biologically consistent features.</a:t>
            </a:r>
          </a:p>
          <a:p>
            <a:pPr marL="558800" indent="-558800">
              <a:defRPr sz="3400"/>
            </a:pPr>
          </a:p>
          <a:p>
            <a:pPr marL="558800" indent="-558800">
              <a:defRPr sz="3400"/>
            </a:pPr>
            <a:r>
              <a:t>The proposed system can serve as an effective clinical decision-support tool, reducing radiologist workload and enabling faster pediatric assessments.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hank You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2_ColorGradient">
  <a:themeElements>
    <a:clrScheme name="22_ColorGradient">
      <a:dk1>
        <a:srgbClr val="D000FF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2_ColorGradien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22_Color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gradFill flip="none" rotWithShape="1">
              <a:gsLst>
                <a:gs pos="0">
                  <a:srgbClr val="1F1F1F"/>
                </a:gs>
                <a:gs pos="100000">
                  <a:srgbClr val="D5D5D5"/>
                </a:gs>
              </a:gsLst>
              <a:lin ang="5400000" scaled="0"/>
            </a:gra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2_ColorGradient">
  <a:themeElements>
    <a:clrScheme name="22_ColorGradien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2_ColorGradien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22_Color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gradFill flip="none" rotWithShape="1">
              <a:gsLst>
                <a:gs pos="0">
                  <a:srgbClr val="1F1F1F"/>
                </a:gs>
                <a:gs pos="100000">
                  <a:srgbClr val="D5D5D5"/>
                </a:gs>
              </a:gsLst>
              <a:lin ang="5400000" scaled="0"/>
            </a:gra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